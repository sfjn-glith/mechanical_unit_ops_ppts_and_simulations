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70459" y="2071687"/>
            <a:ext cx="8651081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b="1" sz="6000" i="0" u="none">
                <a:solidFill>
                  <a:srgbClr val="3A2B2B"/>
                </a:solidFill>
                <a:latin typeface="Playfair Display"/>
              </a:rPr>
              <a:t>Mastering Shear:</a:t>
            </a:r>
            <a:r>
              <a:t>
</a:t>
            </a:r>
            <a:r>
              <a:rPr b="1" sz="6000" i="0" u="none">
                <a:solidFill>
                  <a:srgbClr val="3A2B2B"/>
                </a:solidFill>
                <a:latin typeface="Playfair Display"/>
              </a:rPr>
              <a:t> Pressed Powder Mixing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986212"/>
            <a:ext cx="8572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1" u="none">
                <a:solidFill>
                  <a:srgbClr val="8A7A7A"/>
                </a:solidFill>
                <a:latin typeface="Lato"/>
              </a:rPr>
              <a:t>A strategic review of mechanical unit operations in cosmetic manufacturing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3429000" cy="4314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781175"/>
            <a:ext cx="3429000" cy="431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781175"/>
            <a:ext cx="3429000" cy="4314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5916" y="3086100"/>
            <a:ext cx="134016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4A3B3B"/>
                </a:solidFill>
                <a:latin typeface="Playfair Display"/>
              </a:rPr>
              <a:t>The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81400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5C4D4D"/>
                </a:solidFill>
                <a:latin typeface="Lato"/>
              </a:rPr>
              <a:t>Manufacturing pressed powder cosmetics requires precise handling of dry solids and slightly cohesive slurries, moving them from raw powders to a compressible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0896" y="3086100"/>
            <a:ext cx="1650206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4A3B3B"/>
                </a:solidFill>
                <a:latin typeface="Playfair Display"/>
              </a:rPr>
              <a:t>The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581400"/>
            <a:ext cx="2838450" cy="1736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5C4D4D"/>
                </a:solidFill>
                <a:latin typeface="Lato"/>
              </a:rPr>
              <a:t>A masterclass in shear management. A single blending environment cannot satisfy the conflicting physical requirements of color development and ingredient protection.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902" y="3086100"/>
            <a:ext cx="1560195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4A3B3B"/>
                </a:solidFill>
                <a:latin typeface="Playfair Display"/>
              </a:rPr>
              <a:t>The Arsenal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581400"/>
            <a:ext cx="2838450" cy="14473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5C4D4D"/>
                </a:solidFill>
                <a:latin typeface="Lato"/>
              </a:rPr>
              <a:t>We escalate and de-escalate mechanical shear using three distinct operations: Extreme High Impact, Low-Shear Gravity Folding, and High-Speed Fluidization.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0725" y="2228850"/>
            <a:ext cx="590550" cy="523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7387" y="2228850"/>
            <a:ext cx="657225" cy="523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7387" y="2228850"/>
            <a:ext cx="657225" cy="523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The Foundation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47850"/>
            <a:ext cx="2430660" cy="17573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4271962"/>
            <a:ext cx="2430660" cy="1971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1847850"/>
            <a:ext cx="2430660" cy="17573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4271962"/>
            <a:ext cx="2430660" cy="17573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0759" y="2047875"/>
            <a:ext cx="21321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A2B2B"/>
                </a:solidFill>
                <a:latin typeface="Playfair Display"/>
              </a:rPr>
              <a:t>1. Pigment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428875"/>
            <a:ext cx="20306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5C4D4D"/>
                </a:solidFill>
                <a:latin typeface="Lato"/>
              </a:rPr>
              <a:t>Grinding raw, agglomerated colorants to maximum intensity.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3190875"/>
            <a:ext cx="203061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1" u="none">
                <a:solidFill>
                  <a:srgbClr val="D4A373"/>
                </a:solidFill>
                <a:latin typeface="Lato"/>
              </a:rPr>
              <a:t>Next: Transfer masterbatch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440" y="4471987"/>
            <a:ext cx="21321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A2B2B"/>
                </a:solidFill>
                <a:latin typeface="Playfair Display"/>
              </a:rPr>
              <a:t>2. Pearl Blending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4205" y="4852987"/>
            <a:ext cx="20306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5C4D4D"/>
                </a:solidFill>
                <a:latin typeface="Lato"/>
              </a:rPr>
              <a:t>Gentle folding of the extended base with fragile shimmer particles.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4205" y="5614987"/>
            <a:ext cx="203061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1" u="none">
                <a:solidFill>
                  <a:srgbClr val="D4A373"/>
                </a:solidFill>
                <a:latin typeface="Lato"/>
              </a:rPr>
              <a:t>Next: Load into high-speed vessel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6120" y="2047875"/>
            <a:ext cx="21321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A2B2B"/>
                </a:solidFill>
                <a:latin typeface="Playfair Display"/>
              </a:rPr>
              <a:t>3. Binder Dispersion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6885" y="2428875"/>
            <a:ext cx="20306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5C4D4D"/>
                </a:solidFill>
                <a:latin typeface="Lato"/>
              </a:rPr>
              <a:t>Micro-coating the dry mass with liquid binders via atomization.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6885" y="3190875"/>
            <a:ext cx="203061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1" u="none">
                <a:solidFill>
                  <a:srgbClr val="D4A373"/>
                </a:solidFill>
                <a:latin typeface="Lato"/>
              </a:rPr>
              <a:t>Next: Powder is compressible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8801" y="4471987"/>
            <a:ext cx="213214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A2B2B"/>
                </a:solidFill>
                <a:latin typeface="Playfair Display"/>
              </a:rPr>
              <a:t>4. Final Pressing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9566" y="4852987"/>
            <a:ext cx="203061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5C4D4D"/>
                </a:solidFill>
                <a:latin typeface="Lato"/>
              </a:rPr>
              <a:t>Mechanical downward compression into metal or plastic pans.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9566" y="5614987"/>
            <a:ext cx="203061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1" sz="1125" i="1" u="none">
                <a:solidFill>
                  <a:srgbClr val="D4A373"/>
                </a:solidFill>
                <a:latin typeface="Lato"/>
              </a:rPr>
              <a:t>End of upstream phase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Upstream Process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3919537"/>
            <a:ext cx="11049000" cy="3810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7253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45210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17891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90571" y="382428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CFC"/>
          </a:solidFill>
          <a:ln w="38100">
            <a:solidFill>
              <a:srgbClr val="D4A3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125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8592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First step: Working with raw, clustered inorganic pigments (e.g., iron oxides).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465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565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Smashes tightly packed primary pigment agglomerates down to their absolute smallest primary particle size.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4337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Why this grinder?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2437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Requires extreme, localized kinetic impact to prevent color streaks. Gentle mixers cannot physically break these dense clusters.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7210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Energy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5310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High power consumption. Industrial units typically draw 5 kW to 20 kW+ to generate the extreme rotor RPMs necessary for shattering.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1962150"/>
            <a:ext cx="4838700" cy="417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Step 1: Hammer Mill / Plow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125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8592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Second step: Adding bulk fillers and fragile pearlescent pigments to the extended color batch.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465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565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Homogeneously folds extended pigments with delicate shimmer particles without compromising their physical 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4337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Why this mixer?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2437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Requires absolute low-shear gravity folding. High shear forces would shatter the pearl plates, completely destroying the optical shine.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7210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Energy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5310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Low power consumption. Standard 100L - 500L vessels operate at a slow 12-15 RPM, typically drawing only 1.1 kW to 2.2 kW.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1962150"/>
            <a:ext cx="4838700" cy="417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Step 2: V-Blender (Tumble Mixer)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762125"/>
            <a:ext cx="5238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8592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Encountered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6692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Third step: Transforming the dry, blended powder into a cohesive matrix.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91465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The 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9565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Disperses liquid binder (oils/silicones) as an atomized mist over a rapidly moving dry powder bed.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143375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Why this mixer?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524375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The high-speed bottom impeller creates a fluidized vortex, preventing liquid pooling and massive doughy clumps (fish-eyes).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372100"/>
            <a:ext cx="5500687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D4A373"/>
                </a:solidFill>
                <a:latin typeface="Playfair Display"/>
              </a:rPr>
              <a:t>Energy Stats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53100"/>
            <a:ext cx="5238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5C4D4D"/>
                </a:solidFill>
                <a:latin typeface="Lato"/>
              </a:rPr>
              <a:t>High power requirement. Often draws 15 kW to 30 kW+ to maintain the roping vortex under a heavy solid-liquid load.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775" y="1962150"/>
            <a:ext cx="4838700" cy="41719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Step 3: High-Intensity Vertical Mixer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78606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55758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548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5480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319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3195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28937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293608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000000"/>
                </a:solidFill>
                <a:latin typeface="Lato"/>
              </a:rPr>
              <a:t>https://5.imimg.com/data5/SELLER/Default/2026/2/586494937/PE/MV/LP/5066689/pigment-powder-hammer-mill.png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316944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www.indiamart.com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70046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66875" y="3707606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000000"/>
                </a:solidFill>
                <a:latin typeface="Lato"/>
              </a:rPr>
              <a:t>https://image.made-in-china.com/202f0j00hAKqHzJcfroQ/V-Blender-Mix-Dry-Powder.webp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3940968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hmpharmachine.en.made-in-china.com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471987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66875" y="4479131"/>
            <a:ext cx="99536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000000"/>
                </a:solidFill>
                <a:latin typeface="Lato"/>
              </a:rPr>
              <a:t>https://www.bplittleford.com/assets/content-images/Vertical_%20High_Intensity_Beige_Outdoors.jpg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4712493"/>
            <a:ext cx="99536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000000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www.bplittleford.com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75" i="0" u="none">
                <a:solidFill>
                  <a:srgbClr val="4A3B3B"/>
                </a:solidFill>
                <a:latin typeface="Playfair Display"/>
              </a:rPr>
              <a:t>Image Sources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F2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