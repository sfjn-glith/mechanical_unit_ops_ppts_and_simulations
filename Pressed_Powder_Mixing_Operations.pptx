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3" r:id="rId14"/>
    <p:sldId id="261" r:id="rId12"/>
    <p:sldId id="264" r:id="rId15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  <Relationship Id="rId14" Type="http://schemas.openxmlformats.org/officeDocument/2006/relationships/slide" Target="slides/slide8.xml"/>
  <Relationship Id="rId15" Type="http://schemas.openxmlformats.org/officeDocument/2006/relationships/slide" Target="slides/slide9.xml"/>
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70459" y="2071687"/>
            <a:ext cx="8651081" cy="167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b="1" sz="6000" i="0" u="none">
                <a:solidFill>
                  <a:srgbClr val="3A2B2B"/>
                </a:solidFill>
                <a:latin typeface="Playfair Display"/>
              </a:rPr>
              <a:t>Mastering Shear:</a:t>
            </a:r>
            <a:r>
              <a:t>
</a:t>
            </a:r>
            <a:r>
              <a:rPr b="1" sz="6000" i="0" u="none">
                <a:solidFill>
                  <a:srgbClr val="3A2B2B"/>
                </a:solidFill>
                <a:latin typeface="Playfair Display"/>
              </a:rPr>
              <a:t> Pressed Powder Mixing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9750" y="3986212"/>
            <a:ext cx="85725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b="0" sz="2100" i="1" u="none">
                <a:solidFill>
                  <a:srgbClr val="8A7A7A"/>
                </a:solidFill>
                <a:latin typeface="Lato"/>
              </a:rPr>
              <a:t>A strategic review of mechanical unit operations in cosmetic manufacturing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81175"/>
            <a:ext cx="3429000" cy="4314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1781175"/>
            <a:ext cx="3429000" cy="43148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1781175"/>
            <a:ext cx="3429000" cy="43148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15916" y="3086100"/>
            <a:ext cx="1340167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4A3B3B"/>
                </a:solidFill>
                <a:latin typeface="Playfair Display"/>
              </a:rPr>
              <a:t>The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581400"/>
            <a:ext cx="2838450" cy="1736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b="0" sz="1425" i="0" u="none">
                <a:solidFill>
                  <a:srgbClr val="5C4D4D"/>
                </a:solidFill>
                <a:latin typeface="Lato"/>
              </a:rPr>
              <a:t>Manufacturing pressed powder cosmetics requires precise handling of dry solids and slightly cohesive slurries, moving them from raw powders to a compressible matrix.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70896" y="3086100"/>
            <a:ext cx="1650206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4A3B3B"/>
                </a:solidFill>
                <a:latin typeface="Playfair Display"/>
              </a:rPr>
              <a:t>The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6775" y="3581400"/>
            <a:ext cx="2838450" cy="1736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b="0" sz="1425" i="0" u="none">
                <a:solidFill>
                  <a:srgbClr val="5C4D4D"/>
                </a:solidFill>
                <a:latin typeface="Lato"/>
              </a:rPr>
              <a:t>A masterclass in shear management. A single blending environment cannot satisfy the conflicting physical requirements of color development and ingredient protection.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25902" y="3086100"/>
            <a:ext cx="1560195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4A3B3B"/>
                </a:solidFill>
                <a:latin typeface="Playfair Display"/>
              </a:rPr>
              <a:t>The Arsenal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6775" y="3581400"/>
            <a:ext cx="2838450" cy="14473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b="0" sz="1425" i="0" u="none">
                <a:solidFill>
                  <a:srgbClr val="5C4D4D"/>
                </a:solidFill>
                <a:latin typeface="Lato"/>
              </a:rPr>
              <a:t>We escalate and de-escalate mechanical shear using three distinct operations: Extreme High Impact, Low-Shear Gravity Folding, and High-Speed Fluidization.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725" y="2228850"/>
            <a:ext cx="590550" cy="523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7387" y="2228850"/>
            <a:ext cx="657225" cy="523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77387" y="2228850"/>
            <a:ext cx="657225" cy="5238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75" i="0" u="none">
                <a:solidFill>
                  <a:srgbClr val="4A3B3B"/>
                </a:solidFill>
                <a:latin typeface="Playfair Display"/>
              </a:rPr>
              <a:t>The Foundation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F2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75" i="0" u="none">
                <a:solidFill>
                  <a:srgbClr val="4A3B3B"/>
                </a:solidFill>
                <a:latin typeface="Playfair Display"/>
              </a:rPr>
              <a:t>Upstream Process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F2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919537"/>
            <a:ext cx="11049000" cy="38100"/>
          </a:xfrm>
          <a:prstGeom prst="rect">
            <a:avLst/>
          </a:prstGeom>
          <a:solidFill>
            <a:srgbClr val="F2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1500" y="1485900"/>
            <a:ext cx="1800000" cy="2234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2E8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1500" y="1638300"/>
            <a:ext cx="160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1" sz="1350" i="0" u="none">
                <a:solidFill>
                  <a:srgbClr val="3A2B2B"/>
                </a:solidFill>
                <a:latin typeface="Playfair Display"/>
              </a:rPr>
              <a:t>1. Pigment Extension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1500" y="2133600"/>
            <a:ext cx="15000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00"/>
              </a:lnSpc>
            </a:pPr>
            <a:r>
              <a:rPr b="0" sz="1100" i="0" u="none">
                <a:solidFill>
                  <a:srgbClr val="5C4D4D"/>
                </a:solidFill>
                <a:latin typeface="Lato"/>
              </a:rPr>
              <a:t>Grinding raw, agglomerated colorants to maximum intensity.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1500" y="3200400"/>
            <a:ext cx="1500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b="1" sz="1000" i="1" u="none">
                <a:solidFill>
                  <a:srgbClr val="D4A373"/>
                </a:solidFill>
                <a:latin typeface="Lato"/>
              </a:rPr>
              <a:t>Next: Transfer masterbatch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1300" y="4210050"/>
            <a:ext cx="1800000" cy="2234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2E8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21300" y="4362450"/>
            <a:ext cx="160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1" sz="1350" i="0" u="none">
                <a:solidFill>
                  <a:srgbClr val="3A2B2B"/>
                </a:solidFill>
                <a:latin typeface="Playfair Display"/>
              </a:rPr>
              <a:t>2. Pearl Blending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1300" y="4857750"/>
            <a:ext cx="15000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00"/>
              </a:lnSpc>
            </a:pPr>
            <a:r>
              <a:rPr b="0" sz="1100" i="0" u="none">
                <a:solidFill>
                  <a:srgbClr val="5C4D4D"/>
                </a:solidFill>
                <a:latin typeface="Lato"/>
              </a:rPr>
              <a:t>Gentle folding of the extended base with fragile shimmer particles.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1300" y="5924550"/>
            <a:ext cx="1500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b="1" sz="1000" i="1" u="none">
                <a:solidFill>
                  <a:srgbClr val="D4A373"/>
                </a:solidFill>
                <a:latin typeface="Lato"/>
              </a:rPr>
              <a:t>Next: Prepare the liquid phase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1100" y="1485900"/>
            <a:ext cx="1800000" cy="2234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2E8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1100" y="1638300"/>
            <a:ext cx="160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1" sz="1350" i="0" u="none">
                <a:solidFill>
                  <a:srgbClr val="3A2B2B"/>
                </a:solidFill>
                <a:latin typeface="Playfair Display"/>
              </a:rPr>
              <a:t>3. Binder Pre-Mixing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1100" y="2133600"/>
            <a:ext cx="15000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00"/>
              </a:lnSpc>
            </a:pPr>
            <a:r>
              <a:rPr b="0" sz="1100" i="0" u="none">
                <a:solidFill>
                  <a:srgbClr val="5C4D4D"/>
                </a:solidFill>
                <a:latin typeface="Lato"/>
              </a:rPr>
              <a:t>Homogenising oils, silicones and fragrance into one liquid phase.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1100" y="3200400"/>
            <a:ext cx="1500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b="1" sz="1000" i="1" u="none">
                <a:solidFill>
                  <a:srgbClr val="D4A373"/>
                </a:solidFill>
                <a:latin typeface="Lato"/>
              </a:rPr>
              <a:t>Next: Load into high-speed vessel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0900" y="4210050"/>
            <a:ext cx="1800000" cy="2234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2E8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20900" y="4362450"/>
            <a:ext cx="160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1" sz="1350" i="0" u="none">
                <a:solidFill>
                  <a:srgbClr val="3A2B2B"/>
                </a:solidFill>
                <a:latin typeface="Playfair Display"/>
              </a:rPr>
              <a:t>4. Binder Dispersion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0900" y="4857750"/>
            <a:ext cx="15000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00"/>
              </a:lnSpc>
            </a:pPr>
            <a:r>
              <a:rPr b="0" sz="1100" i="0" u="none">
                <a:solidFill>
                  <a:srgbClr val="5C4D4D"/>
                </a:solidFill>
                <a:latin typeface="Lato"/>
              </a:rPr>
              <a:t>Micro-coating the dry mass with liquid binders via atomization.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0900" y="5924550"/>
            <a:ext cx="1500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b="1" sz="1000" i="1" u="none">
                <a:solidFill>
                  <a:srgbClr val="D4A373"/>
                </a:solidFill>
                <a:latin typeface="Lato"/>
              </a:rPr>
              <a:t>Next: Break the wet clusters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0700" y="1485900"/>
            <a:ext cx="1800000" cy="2234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2E8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70700" y="1638300"/>
            <a:ext cx="160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1" sz="1350" i="0" u="none">
                <a:solidFill>
                  <a:srgbClr val="3A2B2B"/>
                </a:solidFill>
                <a:latin typeface="Playfair Display"/>
              </a:rPr>
              <a:t>5. De-clumping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0700" y="2133600"/>
            <a:ext cx="15000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00"/>
              </a:lnSpc>
            </a:pPr>
            <a:r>
              <a:rPr b="0" sz="1100" i="0" u="none">
                <a:solidFill>
                  <a:srgbClr val="5C4D4D"/>
                </a:solidFill>
                <a:latin typeface="Lato"/>
              </a:rPr>
              <a:t>High-speed chopping of wet clusters into uniform granules.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0700" y="3200400"/>
            <a:ext cx="1500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b="1" sz="1000" i="1" u="none">
                <a:solidFill>
                  <a:srgbClr val="D4A373"/>
                </a:solidFill>
                <a:latin typeface="Lato"/>
              </a:rPr>
              <a:t>Next: Powder is compressible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20500" y="4210050"/>
            <a:ext cx="1800000" cy="2234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2E8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20500" y="4362450"/>
            <a:ext cx="160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1" sz="1350" i="0" u="none">
                <a:solidFill>
                  <a:srgbClr val="3A2B2B"/>
                </a:solidFill>
                <a:latin typeface="Playfair Display"/>
              </a:rPr>
              <a:t>6. Final Pressing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70500" y="4857750"/>
            <a:ext cx="15000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00"/>
              </a:lnSpc>
            </a:pPr>
            <a:r>
              <a:rPr b="0" sz="1100" i="0" u="none">
                <a:solidFill>
                  <a:srgbClr val="5C4D4D"/>
                </a:solidFill>
                <a:latin typeface="Lato"/>
              </a:rPr>
              <a:t>Mechanical downward compression into metal or plastic pans.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70500" y="5924550"/>
            <a:ext cx="1500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b="1" sz="1000" i="1" u="none">
                <a:solidFill>
                  <a:srgbClr val="D4A373"/>
                </a:solidFill>
                <a:latin typeface="Lato"/>
              </a:rPr>
              <a:t>End of upstream phase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57200" y="38242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CFC"/>
          </a:solidFill>
          <a:ln w="38100">
            <a:solidFill>
              <a:srgbClr val="D4A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207000" y="38242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CFC"/>
          </a:solidFill>
          <a:ln w="38100">
            <a:solidFill>
              <a:srgbClr val="D4A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056800" y="38242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CFC"/>
          </a:solidFill>
          <a:ln w="38100">
            <a:solidFill>
              <a:srgbClr val="D4A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906600" y="38242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CFC"/>
          </a:solidFill>
          <a:ln w="38100">
            <a:solidFill>
              <a:srgbClr val="D4A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756400" y="38242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CFC"/>
          </a:solidFill>
          <a:ln w="38100">
            <a:solidFill>
              <a:srgbClr val="D4A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606200" y="38242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CFC"/>
          </a:solidFill>
          <a:ln w="38100">
            <a:solidFill>
              <a:srgbClr val="D4A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762125"/>
            <a:ext cx="5238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685925"/>
            <a:ext cx="550068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4A373"/>
                </a:solidFill>
                <a:latin typeface="Playfair Display"/>
              </a:rPr>
              <a:t>Encountered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066925"/>
            <a:ext cx="52387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C4D4D"/>
                </a:solidFill>
                <a:latin typeface="Lato"/>
              </a:rPr>
              <a:t>First step: Working with raw, clustered inorganic pigments (e.g., iron oxides).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914650"/>
            <a:ext cx="550068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4A373"/>
                </a:solidFill>
                <a:latin typeface="Playfair Display"/>
              </a:rPr>
              <a:t>The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295650"/>
            <a:ext cx="52387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C4D4D"/>
                </a:solidFill>
                <a:latin typeface="Lato"/>
              </a:rPr>
              <a:t>Smashes tightly packed primary pigment agglomerates down to their absolute smallest primary particle size.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143375"/>
            <a:ext cx="550068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4A373"/>
                </a:solidFill>
                <a:latin typeface="Playfair Display"/>
              </a:rPr>
              <a:t>Why this grinder?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524375"/>
            <a:ext cx="52387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C4D4D"/>
                </a:solidFill>
                <a:latin typeface="Lato"/>
              </a:rPr>
              <a:t>Requires extreme, localized kinetic impact to prevent color streaks. Gentle mixers cannot physically break these dense clusters.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5372100"/>
            <a:ext cx="550068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4A373"/>
                </a:solidFill>
                <a:latin typeface="Playfair Display"/>
              </a:rPr>
              <a:t>Energy Stats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753100"/>
            <a:ext cx="52387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C4D4D"/>
                </a:solidFill>
                <a:latin typeface="Lato"/>
              </a:rPr>
              <a:t>High power consumption. Industrial units typically draw 5 kW to 20 kW+ to generate the extreme rotor RPMs necessary for shattering.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775" y="1962150"/>
            <a:ext cx="4838700" cy="41719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75" i="0" u="none">
                <a:solidFill>
                  <a:srgbClr val="4A3B3B"/>
                </a:solidFill>
                <a:latin typeface="Playfair Display"/>
              </a:rPr>
              <a:t>Step 1: Hammer Mill / Plow Blender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F2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762125"/>
            <a:ext cx="5238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685925"/>
            <a:ext cx="550068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4A373"/>
                </a:solidFill>
                <a:latin typeface="Playfair Display"/>
              </a:rPr>
              <a:t>Encountered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066925"/>
            <a:ext cx="52387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C4D4D"/>
                </a:solidFill>
                <a:latin typeface="Lato"/>
              </a:rPr>
              <a:t>Second step: Adding bulk fillers and fragile pearlescent pigments to the extended color batch.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914650"/>
            <a:ext cx="550068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4A373"/>
                </a:solidFill>
                <a:latin typeface="Playfair Display"/>
              </a:rPr>
              <a:t>The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295650"/>
            <a:ext cx="52387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C4D4D"/>
                </a:solidFill>
                <a:latin typeface="Lato"/>
              </a:rPr>
              <a:t>Homogeneously folds extended pigments with delicate shimmer particles without compromising their physical structure.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143375"/>
            <a:ext cx="550068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4A373"/>
                </a:solidFill>
                <a:latin typeface="Playfair Display"/>
              </a:rPr>
              <a:t>Why this mixer?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524375"/>
            <a:ext cx="52387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C4D4D"/>
                </a:solidFill>
                <a:latin typeface="Lato"/>
              </a:rPr>
              <a:t>Requires absolute low-shear gravity folding. High shear forces would shatter the pearl plates, completely destroying the optical shine.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5372100"/>
            <a:ext cx="550068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4A373"/>
                </a:solidFill>
                <a:latin typeface="Playfair Display"/>
              </a:rPr>
              <a:t>Energy Stats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753100"/>
            <a:ext cx="52387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C4D4D"/>
                </a:solidFill>
                <a:latin typeface="Lato"/>
              </a:rPr>
              <a:t>Low power consumption. Standard 100L - 500L vessels operate at a slow 12-15 RPM, typically drawing only 1.1 kW to 2.2 kW.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775" y="1962150"/>
            <a:ext cx="4838700" cy="41719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75" i="0" u="none">
                <a:solidFill>
                  <a:srgbClr val="4A3B3B"/>
                </a:solidFill>
                <a:latin typeface="Playfair Display"/>
              </a:rPr>
              <a:t>Step 2: V-Blender (Tumble Mixer)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F2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762125"/>
            <a:ext cx="5238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685925"/>
            <a:ext cx="550068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4A373"/>
                </a:solidFill>
                <a:latin typeface="Playfair Display"/>
              </a:rPr>
              <a:t>Encountered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066925"/>
            <a:ext cx="52387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C4D4D"/>
                </a:solidFill>
                <a:latin typeface="Lato"/>
              </a:rPr>
              <a:t>Fourth step: Transforming the dry, blended powder into a cohesive matrix.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914650"/>
            <a:ext cx="550068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4A373"/>
                </a:solidFill>
                <a:latin typeface="Playfair Display"/>
              </a:rPr>
              <a:t>The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295650"/>
            <a:ext cx="52387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C4D4D"/>
                </a:solidFill>
                <a:latin typeface="Lato"/>
              </a:rPr>
              <a:t>Disperses liquid binder (oils/silicones) as an atomized mist over a rapidly moving dry powder bed.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143375"/>
            <a:ext cx="550068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4A373"/>
                </a:solidFill>
                <a:latin typeface="Playfair Display"/>
              </a:rPr>
              <a:t>Why this mixer?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524375"/>
            <a:ext cx="52387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C4D4D"/>
                </a:solidFill>
                <a:latin typeface="Lato"/>
              </a:rPr>
              <a:t>The high-speed bottom impeller creates a fluidized vortex, preventing liquid pooling and massive doughy clumps (fish-eyes).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5372100"/>
            <a:ext cx="550068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4A373"/>
                </a:solidFill>
                <a:latin typeface="Playfair Display"/>
              </a:rPr>
              <a:t>Energy Stats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753100"/>
            <a:ext cx="52387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C4D4D"/>
                </a:solidFill>
                <a:latin typeface="Lato"/>
              </a:rPr>
              <a:t>High power requirement. Often draws 15 kW to 30 kW+ to maintain the roping vortex under a heavy solid-liquid load.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775" y="1962150"/>
            <a:ext cx="4838700" cy="41719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75" i="0" u="none">
                <a:solidFill>
                  <a:srgbClr val="4A3B3B"/>
                </a:solidFill>
                <a:latin typeface="Playfair Display"/>
              </a:rPr>
              <a:t>Step 4: High-Intensity Vertical Mixer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F2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2786062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557587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5480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35480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43195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43195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28937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6875" y="2936081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000000"/>
                </a:solidFill>
                <a:latin typeface="Lato"/>
              </a:rPr>
              <a:t>https://5.imimg.com/data5/SELLER/Default/2026/2/586494937/PE/MV/LP/5066689/pigment-powder-hammer-mill.png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3169443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00000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www.indiamart.com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700462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66875" y="3707606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000000"/>
                </a:solidFill>
                <a:latin typeface="Lato"/>
              </a:rPr>
              <a:t>https://image.made-in-china.com/202f0j00hAKqHzJcfroQ/V-Blender-Mix-Dry-Powder.webp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3940968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00000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hmpharmachine.en.made-in-china.com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471987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66875" y="4479131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000000"/>
                </a:solidFill>
                <a:latin typeface="Lato"/>
              </a:rPr>
              <a:t>https://www.bplittleford.com/assets/content-images/Vertical_%20High_Intensity_Beige_Outdoors.jpg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4712493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00000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www.bplittleford.com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75" i="0" u="none">
                <a:solidFill>
                  <a:srgbClr val="4A3B3B"/>
                </a:solidFill>
                <a:latin typeface="Playfair Display"/>
              </a:rPr>
              <a:t>Image Sources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F2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762125"/>
            <a:ext cx="5238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685925"/>
            <a:ext cx="550068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4A373"/>
                </a:solidFill>
                <a:latin typeface="Playfair Display"/>
              </a:rPr>
              <a:t>Encountered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066925"/>
            <a:ext cx="57000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C4D4D"/>
                </a:solidFill>
                <a:latin typeface="Lato"/>
              </a:rPr>
              <a:t>Pre-dispersion phase: Preparing liquid phase prior to atomization into the dry powder bed.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914650"/>
            <a:ext cx="550068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4A373"/>
                </a:solidFill>
                <a:latin typeface="Playfair Display"/>
              </a:rPr>
              <a:t>The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295650"/>
            <a:ext cx="57000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C4D4D"/>
                </a:solidFill>
                <a:latin typeface="Lato"/>
              </a:rPr>
              <a:t>Emulsifies and homogenizes liquid binders (oils, silicones, esters, squalane), preservatives, and fragrances into a single, uniform liquid phase.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143375"/>
            <a:ext cx="550068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4A373"/>
                </a:solidFill>
                <a:latin typeface="Playfair Display"/>
              </a:rPr>
              <a:t>Why this mixer?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524375"/>
            <a:ext cx="57000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C4D4D"/>
                </a:solidFill>
                <a:latin typeface="Lato"/>
              </a:rPr>
              <a:t>Requires high fluid shear to break oil-silicone phase segregation. Unhomogenized liquid feeds lead to clogged spray nozzles and uneven binder dispersion across the powder mass.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5372100"/>
            <a:ext cx="550068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4A373"/>
                </a:solidFill>
                <a:latin typeface="Playfair Display"/>
              </a:rPr>
              <a:t>Energy Stats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753100"/>
            <a:ext cx="57000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C4D4D"/>
                </a:solidFill>
                <a:latin typeface="Lato"/>
              </a:rPr>
              <a:t>Moderate power consumption. Industrial batch units (20L – 100L liquid tanks) typically draw 2.2 kW to 7.5 kW operating at 3,000 to 6,000 RPM.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525" y="1962150"/>
            <a:ext cx="4795200" cy="41719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75" i="0" u="none">
                <a:solidFill>
                  <a:srgbClr val="4A3B3B"/>
                </a:solidFill>
                <a:latin typeface="Playfair Display"/>
              </a:rPr>
              <a:t>Step 3: High-Shear Rotor-Stator Homogenizer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F2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762125"/>
            <a:ext cx="5238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685925"/>
            <a:ext cx="550068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4A373"/>
                </a:solidFill>
                <a:latin typeface="Playfair Display"/>
              </a:rPr>
              <a:t>Encountered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066925"/>
            <a:ext cx="57000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C4D4D"/>
                </a:solidFill>
                <a:latin typeface="Lato"/>
              </a:rPr>
              <a:t>Immediately following Step 4: A moist, binder-coated powder bed containing localized over-saturated clusters (“dough balls”).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914650"/>
            <a:ext cx="550068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4A373"/>
                </a:solidFill>
                <a:latin typeface="Playfair Display"/>
              </a:rPr>
              <a:t>The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295650"/>
            <a:ext cx="57000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C4D4D"/>
                </a:solidFill>
                <a:latin typeface="Lato"/>
              </a:rPr>
              <a:t>Applies brief, targeted high-speed impact forces to shatter wet agglomerates, producing a uniform particle size distribution ready for pressing.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143375"/>
            <a:ext cx="550068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4A373"/>
                </a:solidFill>
                <a:latin typeface="Playfair Display"/>
              </a:rPr>
              <a:t>Why this mixer?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524375"/>
            <a:ext cx="57000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C4D4D"/>
                </a:solidFill>
                <a:latin typeface="Lato"/>
              </a:rPr>
              <a:t>High-speed rotating blades (choppers) cut through high-moisture agglomerates without applying heavy compressive shear that would crush the pearl flakes incorporated in Step 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5372100"/>
            <a:ext cx="550068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4A373"/>
                </a:solidFill>
                <a:latin typeface="Playfair Display"/>
              </a:rPr>
              <a:t>Energy Stats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753100"/>
            <a:ext cx="57000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C4D4D"/>
                </a:solidFill>
                <a:latin typeface="Lato"/>
              </a:rPr>
              <a:t>Short-duration power load. Chopper motor drives draw 3 kW to 11 kW operating in controlled 1- to 3-minute high-speed bursts (up to 3,600 RPM).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525" y="1962150"/>
            <a:ext cx="4795200" cy="41719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75" i="0" u="none">
                <a:solidFill>
                  <a:srgbClr val="4A3B3B"/>
                </a:solidFill>
                <a:latin typeface="Playfair Display"/>
              </a:rPr>
              <a:t>Step 5: High-Speed Chopper / Delumper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F2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